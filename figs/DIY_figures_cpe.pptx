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/>
    <p:restoredTop sz="94658"/>
  </p:normalViewPr>
  <p:slideViewPr>
    <p:cSldViewPr snapToGrid="0">
      <p:cViewPr varScale="1">
        <p:scale>
          <a:sx n="116" d="100"/>
          <a:sy n="116" d="100"/>
        </p:scale>
        <p:origin x="5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B9AD72-4AAE-43CB-16C9-82083E0CF9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F5AFE8B-BE45-3631-FB05-06B674738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55DB1DC-427B-7ADD-9BF9-F9D7F6FAC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C3F85-BBC2-E74E-8790-0F6C20224DB3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CDEFFA-84AB-54F9-DED2-1D0138F0B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DF18040-917F-DC04-BD06-6F8566A48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4A9A6-E869-B646-AA12-7A1DC76AF0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428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103346-6E2D-F7D5-497C-13E4692CD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53DE76E-86DF-A1E6-4AC4-E1B8A17F5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F4C7B6-A7E6-1F31-FFD7-2E670FC52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C3F85-BBC2-E74E-8790-0F6C20224DB3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7307A4E-461F-6D00-C8BC-ABBDE6AC2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32ACCD-73C5-5E2B-E14E-62133CFE3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4A9A6-E869-B646-AA12-7A1DC76AF0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6783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F878F9-0727-91FB-431C-A09297164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E4144AC-F149-3E64-3B6C-561D2C11A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66D222E-018A-D182-9753-CA2BC9FD3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C3F85-BBC2-E74E-8790-0F6C20224DB3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C55F935-08C1-6E96-EB4C-7006F3AE6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8C0A49-387D-08AF-B12C-F5A31A47F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4A9A6-E869-B646-AA12-7A1DC76AF0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0694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3154DC-E588-E474-5BC8-E6977AC72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99A3436-41B1-8577-1D2A-2E8DB1B510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2A8BF27-5259-B625-2EBA-45DD3A0A4C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5538211-EEDE-94B5-8643-FF13023F9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C3F85-BBC2-E74E-8790-0F6C20224DB3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EB87D20-0CC1-BC95-A0C0-B8C769F59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E3C7364-92E5-52E6-BC98-20BB31A21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4A9A6-E869-B646-AA12-7A1DC76AF0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1662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686645-37C5-B680-2341-88A18F05E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78D29EA-DB80-A613-899E-C12EF8357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988CD40-1629-6A04-8A8C-59542F30F5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753541F-FB88-1704-05CF-A701E0A04C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6228879-9EF4-8F27-A932-2B5BEBCDE9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CAED823-4F45-964B-F52C-BE11B2395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C3F85-BBC2-E74E-8790-0F6C20224DB3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6583061-87E1-AD4B-C5BE-F56615E29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CAB84DE-830D-4D15-213D-A65CF1C23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4A9A6-E869-B646-AA12-7A1DC76AF0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9883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B135E6-D78F-5426-D2CE-4606C95C8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0A91631-9F1E-FF99-F50B-234BCF26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C3F85-BBC2-E74E-8790-0F6C20224DB3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2E36920-4F92-EC07-EBB5-A366DC2EE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2AAFCEC-0376-E3A6-9322-205049288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4A9A6-E869-B646-AA12-7A1DC76AF0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1203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7B565F8-37A6-0E35-51BB-F313614F4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C3F85-BBC2-E74E-8790-0F6C20224DB3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F3F319E-4FDB-A945-0987-218469A4A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C581173-8B28-B6F5-4FC6-C5E68000A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4A9A6-E869-B646-AA12-7A1DC76AF0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7176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E8AA7E-6140-DE27-C66A-7912B632C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954D8B-46B1-E143-DDC3-A3E3EDF4D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78537B7-0217-66A4-5251-D7211D284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4F9FC15-F268-29F9-1AFF-F66F480A2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C3F85-BBC2-E74E-8790-0F6C20224DB3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6252AC1-8272-F707-5B1A-7BF5F1492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147DE2D-4F97-4721-35B9-7E1B8D5E6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4A9A6-E869-B646-AA12-7A1DC76AF0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9798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5D48C9-F482-88B6-ECF3-F1E8D3C9E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286D064-1864-9926-EE0D-B2B22473A8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05F11D1-6201-C993-9657-BAB4728375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6676E4E-D665-EA26-05FE-DBA19421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C3F85-BBC2-E74E-8790-0F6C20224DB3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6E6BF8C-1FA7-4809-9A74-03252D540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F99E2CF-D694-6646-B8FA-96C3DE3EF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4A9A6-E869-B646-AA12-7A1DC76AF0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6158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8B3929-1AF0-A8E0-5967-7DFDD1D7A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A488154-E057-5AAC-238D-D93B4C69A5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DF8AED-48D9-0D1F-230E-B66416D0E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C3F85-BBC2-E74E-8790-0F6C20224DB3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EE5307-056D-17A2-A177-771F7F0A5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E7E5DA-205A-5174-C4B3-22B59ECDB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4A9A6-E869-B646-AA12-7A1DC76AF0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6994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F6625F2-C1CE-075C-7719-63D82BF82F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EA5C9A8-20ED-D2E0-DC92-AC10E12E6D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9F1BE5-0F83-6A63-6B14-F74F2E9C9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C3F85-BBC2-E74E-8790-0F6C20224DB3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8C1852-EA7C-F099-0B56-606F02025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E8A6A61-D8E4-7D87-CFEF-ACAE0B1AB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4A9A6-E869-B646-AA12-7A1DC76AF0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1301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9167D5B-06AD-C0E0-E80F-0671CE698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AE284B3-1213-2863-34AC-79B386336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80A162-7FF9-0D64-69E2-88A6CA8048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AC3F85-BBC2-E74E-8790-0F6C20224DB3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DE60899-19EF-D289-35DA-822D8FFC57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646BEAB-37B9-AF5F-F6E9-C772F0B8E5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E4A9A6-E869-B646-AA12-7A1DC76AF0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5506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4DCBFA7F-8411-A34C-CBDB-1DBF7373592C}"/>
              </a:ext>
            </a:extLst>
          </p:cNvPr>
          <p:cNvGrpSpPr/>
          <p:nvPr/>
        </p:nvGrpSpPr>
        <p:grpSpPr>
          <a:xfrm>
            <a:off x="1523885" y="342976"/>
            <a:ext cx="9470180" cy="6172047"/>
            <a:chOff x="1523885" y="342976"/>
            <a:chExt cx="9470180" cy="6172047"/>
          </a:xfrm>
        </p:grpSpPr>
        <p:cxnSp>
          <p:nvCxnSpPr>
            <p:cNvPr id="85" name="カギ線コネクタ 84">
              <a:extLst>
                <a:ext uri="{FF2B5EF4-FFF2-40B4-BE49-F238E27FC236}">
                  <a16:creationId xmlns:a16="http://schemas.microsoft.com/office/drawing/2014/main" id="{48AC2824-782C-4F5D-0E13-6A3921855753}"/>
                </a:ext>
              </a:extLst>
            </p:cNvPr>
            <p:cNvCxnSpPr>
              <a:cxnSpLocks/>
              <a:stCxn id="31" idx="3"/>
              <a:endCxn id="32" idx="1"/>
            </p:cNvCxnSpPr>
            <p:nvPr/>
          </p:nvCxnSpPr>
          <p:spPr>
            <a:xfrm flipH="1">
              <a:off x="4043916" y="4864921"/>
              <a:ext cx="6840280" cy="1263503"/>
            </a:xfrm>
            <a:prstGeom prst="bentConnector5">
              <a:avLst>
                <a:gd name="adj1" fmla="val -3342"/>
                <a:gd name="adj2" fmla="val 50000"/>
                <a:gd name="adj3" fmla="val 103342"/>
              </a:avLst>
            </a:prstGeom>
            <a:ln w="28575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カギ線コネクタ 81">
              <a:extLst>
                <a:ext uri="{FF2B5EF4-FFF2-40B4-BE49-F238E27FC236}">
                  <a16:creationId xmlns:a16="http://schemas.microsoft.com/office/drawing/2014/main" id="{4C91A8DA-CDBD-B9E6-8F09-709D33616251}"/>
                </a:ext>
              </a:extLst>
            </p:cNvPr>
            <p:cNvCxnSpPr>
              <a:cxnSpLocks/>
              <a:stCxn id="27" idx="3"/>
              <a:endCxn id="28" idx="1"/>
            </p:cNvCxnSpPr>
            <p:nvPr/>
          </p:nvCxnSpPr>
          <p:spPr>
            <a:xfrm flipH="1">
              <a:off x="1665767" y="3596102"/>
              <a:ext cx="9200708" cy="1263503"/>
            </a:xfrm>
            <a:prstGeom prst="bentConnector5">
              <a:avLst>
                <a:gd name="adj1" fmla="val -2485"/>
                <a:gd name="adj2" fmla="val 50000"/>
                <a:gd name="adj3" fmla="val 102485"/>
              </a:avLst>
            </a:prstGeom>
            <a:ln w="28575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カギ線コネクタ 78">
              <a:extLst>
                <a:ext uri="{FF2B5EF4-FFF2-40B4-BE49-F238E27FC236}">
                  <a16:creationId xmlns:a16="http://schemas.microsoft.com/office/drawing/2014/main" id="{ADE19D76-D816-C7CF-9F27-C7B1956633C3}"/>
                </a:ext>
              </a:extLst>
            </p:cNvPr>
            <p:cNvCxnSpPr>
              <a:cxnSpLocks/>
              <a:stCxn id="22" idx="3"/>
              <a:endCxn id="24" idx="1"/>
            </p:cNvCxnSpPr>
            <p:nvPr/>
          </p:nvCxnSpPr>
          <p:spPr>
            <a:xfrm flipH="1">
              <a:off x="1648046" y="2332599"/>
              <a:ext cx="6840280" cy="1258187"/>
            </a:xfrm>
            <a:prstGeom prst="bentConnector5">
              <a:avLst>
                <a:gd name="adj1" fmla="val -3342"/>
                <a:gd name="adj2" fmla="val 50000"/>
                <a:gd name="adj3" fmla="val 103342"/>
              </a:avLst>
            </a:prstGeom>
            <a:ln w="28575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カギ線コネクタ 77">
              <a:extLst>
                <a:ext uri="{FF2B5EF4-FFF2-40B4-BE49-F238E27FC236}">
                  <a16:creationId xmlns:a16="http://schemas.microsoft.com/office/drawing/2014/main" id="{788A9253-DA43-0D59-18B5-3215D0FCE433}"/>
                </a:ext>
              </a:extLst>
            </p:cNvPr>
            <p:cNvCxnSpPr>
              <a:stCxn id="19" idx="3"/>
              <a:endCxn id="21" idx="1"/>
            </p:cNvCxnSpPr>
            <p:nvPr/>
          </p:nvCxnSpPr>
          <p:spPr>
            <a:xfrm flipH="1">
              <a:off x="4061637" y="1074412"/>
              <a:ext cx="4426689" cy="1258187"/>
            </a:xfrm>
            <a:prstGeom prst="bentConnector5">
              <a:avLst>
                <a:gd name="adj1" fmla="val -5164"/>
                <a:gd name="adj2" fmla="val 50000"/>
                <a:gd name="adj3" fmla="val 105164"/>
              </a:avLst>
            </a:prstGeom>
            <a:ln w="28575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角丸四角形 15">
              <a:extLst>
                <a:ext uri="{FF2B5EF4-FFF2-40B4-BE49-F238E27FC236}">
                  <a16:creationId xmlns:a16="http://schemas.microsoft.com/office/drawing/2014/main" id="{231C521F-FE9B-4AA8-FF3D-1BACDE6B8B7B}"/>
                </a:ext>
              </a:extLst>
            </p:cNvPr>
            <p:cNvSpPr/>
            <p:nvPr/>
          </p:nvSpPr>
          <p:spPr>
            <a:xfrm>
              <a:off x="4061637" y="755435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はじめに</a:t>
              </a:r>
              <a:endParaRPr kumimoji="1" lang="en-US" altLang="ja-JP" b="1" dirty="0">
                <a:solidFill>
                  <a:schemeClr val="tx1"/>
                </a:solidFill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</p:txBody>
        </p:sp>
        <p:sp>
          <p:nvSpPr>
            <p:cNvPr id="19" name="角丸四角形 18">
              <a:extLst>
                <a:ext uri="{FF2B5EF4-FFF2-40B4-BE49-F238E27FC236}">
                  <a16:creationId xmlns:a16="http://schemas.microsoft.com/office/drawing/2014/main" id="{746D7BD1-C0C6-689F-817E-9FB07F5AD380}"/>
                </a:ext>
              </a:extLst>
            </p:cNvPr>
            <p:cNvSpPr/>
            <p:nvPr/>
          </p:nvSpPr>
          <p:spPr>
            <a:xfrm>
              <a:off x="6457507" y="755435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比較政治経済学</a:t>
              </a:r>
              <a:r>
                <a:rPr kumimoji="1" lang="ja-JP" altLang="en-US" sz="14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の</a:t>
              </a:r>
              <a:endParaRPr kumimoji="1" lang="en-US" altLang="ja-JP" sz="1400" b="1" dirty="0">
                <a:solidFill>
                  <a:schemeClr val="tx1"/>
                </a:solidFill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  <a:p>
              <a:pPr algn="ctr"/>
              <a:r>
                <a:rPr kumimoji="1"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全体像</a:t>
              </a:r>
            </a:p>
          </p:txBody>
        </p:sp>
        <p:sp>
          <p:nvSpPr>
            <p:cNvPr id="21" name="角丸四角形 20">
              <a:extLst>
                <a:ext uri="{FF2B5EF4-FFF2-40B4-BE49-F238E27FC236}">
                  <a16:creationId xmlns:a16="http://schemas.microsoft.com/office/drawing/2014/main" id="{5E2CBA5F-5F6B-AA61-0286-B01F111E9D42}"/>
                </a:ext>
              </a:extLst>
            </p:cNvPr>
            <p:cNvSpPr/>
            <p:nvPr/>
          </p:nvSpPr>
          <p:spPr>
            <a:xfrm>
              <a:off x="4061637" y="2013622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戦後政治経済体制</a:t>
              </a:r>
            </a:p>
          </p:txBody>
        </p:sp>
        <p:sp>
          <p:nvSpPr>
            <p:cNvPr id="22" name="角丸四角形 21">
              <a:extLst>
                <a:ext uri="{FF2B5EF4-FFF2-40B4-BE49-F238E27FC236}">
                  <a16:creationId xmlns:a16="http://schemas.microsoft.com/office/drawing/2014/main" id="{F29DBCEA-4449-9B14-B467-5995E1D4CF58}"/>
                </a:ext>
              </a:extLst>
            </p:cNvPr>
            <p:cNvSpPr/>
            <p:nvPr/>
          </p:nvSpPr>
          <p:spPr>
            <a:xfrm>
              <a:off x="6457507" y="2013622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戦後体制</a:t>
              </a:r>
              <a:r>
                <a:rPr kumimoji="1" lang="ja-JP" altLang="en-US" sz="14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の</a:t>
              </a:r>
              <a:r>
                <a:rPr kumimoji="1"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再編</a:t>
              </a:r>
              <a:r>
                <a:rPr kumimoji="1" lang="ja-JP" altLang="en-US" sz="14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と</a:t>
              </a:r>
              <a:r>
                <a:rPr kumimoji="1"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グローバル化</a:t>
              </a:r>
            </a:p>
          </p:txBody>
        </p:sp>
        <p:sp>
          <p:nvSpPr>
            <p:cNvPr id="24" name="角丸四角形 23">
              <a:extLst>
                <a:ext uri="{FF2B5EF4-FFF2-40B4-BE49-F238E27FC236}">
                  <a16:creationId xmlns:a16="http://schemas.microsoft.com/office/drawing/2014/main" id="{945E11EA-30B2-917A-C201-26DFA7A52558}"/>
                </a:ext>
              </a:extLst>
            </p:cNvPr>
            <p:cNvSpPr/>
            <p:nvPr/>
          </p:nvSpPr>
          <p:spPr>
            <a:xfrm>
              <a:off x="1648046" y="3271809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資本主義</a:t>
              </a:r>
              <a:r>
                <a:rPr kumimoji="1" lang="ja-JP" altLang="en-US" sz="14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の</a:t>
              </a:r>
              <a:r>
                <a:rPr kumimoji="1"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多様性</a:t>
              </a:r>
            </a:p>
          </p:txBody>
        </p:sp>
        <p:sp>
          <p:nvSpPr>
            <p:cNvPr id="25" name="角丸四角形 24">
              <a:extLst>
                <a:ext uri="{FF2B5EF4-FFF2-40B4-BE49-F238E27FC236}">
                  <a16:creationId xmlns:a16="http://schemas.microsoft.com/office/drawing/2014/main" id="{40B2CF6D-B2DF-FEDD-BC1B-81FA4F459754}"/>
                </a:ext>
              </a:extLst>
            </p:cNvPr>
            <p:cNvSpPr/>
            <p:nvPr/>
          </p:nvSpPr>
          <p:spPr>
            <a:xfrm>
              <a:off x="4043916" y="3271809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福祉国家</a:t>
              </a:r>
              <a:r>
                <a:rPr kumimoji="1" lang="ja-JP" altLang="en-US" sz="14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の</a:t>
              </a:r>
              <a:r>
                <a:rPr kumimoji="1"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多様性</a:t>
              </a:r>
            </a:p>
          </p:txBody>
        </p:sp>
        <p:sp>
          <p:nvSpPr>
            <p:cNvPr id="26" name="角丸四角形 25">
              <a:extLst>
                <a:ext uri="{FF2B5EF4-FFF2-40B4-BE49-F238E27FC236}">
                  <a16:creationId xmlns:a16="http://schemas.microsoft.com/office/drawing/2014/main" id="{74F41A9B-4500-FB29-4CB8-3FD5A9F59399}"/>
                </a:ext>
              </a:extLst>
            </p:cNvPr>
            <p:cNvSpPr/>
            <p:nvPr/>
          </p:nvSpPr>
          <p:spPr>
            <a:xfrm>
              <a:off x="6439786" y="3277125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福祉国家</a:t>
              </a:r>
              <a:r>
                <a:rPr kumimoji="1" lang="ja-JP" altLang="en-US" sz="14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の</a:t>
              </a:r>
              <a:endParaRPr kumimoji="1" lang="en-US" altLang="ja-JP" sz="1400" b="1" dirty="0">
                <a:solidFill>
                  <a:schemeClr val="tx1"/>
                </a:solidFill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  <a:p>
              <a:pPr algn="ctr"/>
              <a:r>
                <a:rPr kumimoji="1"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政治経済学</a:t>
              </a:r>
            </a:p>
          </p:txBody>
        </p:sp>
        <p:sp>
          <p:nvSpPr>
            <p:cNvPr id="27" name="角丸四角形 26">
              <a:extLst>
                <a:ext uri="{FF2B5EF4-FFF2-40B4-BE49-F238E27FC236}">
                  <a16:creationId xmlns:a16="http://schemas.microsoft.com/office/drawing/2014/main" id="{3F6B0888-2EB0-BA48-E39A-587FFE9A81C0}"/>
                </a:ext>
              </a:extLst>
            </p:cNvPr>
            <p:cNvSpPr/>
            <p:nvPr/>
          </p:nvSpPr>
          <p:spPr>
            <a:xfrm>
              <a:off x="8835656" y="3277125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福祉国家</a:t>
              </a:r>
              <a:r>
                <a:rPr kumimoji="1" lang="ja-JP" altLang="en-US" sz="14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の</a:t>
              </a:r>
              <a:r>
                <a:rPr kumimoji="1"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再編</a:t>
              </a:r>
            </a:p>
          </p:txBody>
        </p:sp>
        <p:sp>
          <p:nvSpPr>
            <p:cNvPr id="28" name="角丸四角形 27">
              <a:extLst>
                <a:ext uri="{FF2B5EF4-FFF2-40B4-BE49-F238E27FC236}">
                  <a16:creationId xmlns:a16="http://schemas.microsoft.com/office/drawing/2014/main" id="{14FBCA68-1F34-08E6-6B4E-ED279B3D7E58}"/>
                </a:ext>
              </a:extLst>
            </p:cNvPr>
            <p:cNvSpPr/>
            <p:nvPr/>
          </p:nvSpPr>
          <p:spPr>
            <a:xfrm>
              <a:off x="1665767" y="4540628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再分配</a:t>
              </a:r>
              <a:r>
                <a:rPr kumimoji="1" lang="ja-JP" altLang="en-US" sz="14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の</a:t>
              </a:r>
              <a:endParaRPr kumimoji="1" lang="en-US" altLang="ja-JP" sz="1400" b="1" dirty="0">
                <a:solidFill>
                  <a:schemeClr val="tx1"/>
                </a:solidFill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  <a:p>
              <a:pPr algn="ctr"/>
              <a:r>
                <a:rPr kumimoji="1"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政治経済学</a:t>
              </a:r>
            </a:p>
          </p:txBody>
        </p:sp>
        <p:sp>
          <p:nvSpPr>
            <p:cNvPr id="29" name="角丸四角形 28">
              <a:extLst>
                <a:ext uri="{FF2B5EF4-FFF2-40B4-BE49-F238E27FC236}">
                  <a16:creationId xmlns:a16="http://schemas.microsoft.com/office/drawing/2014/main" id="{33069256-1011-0C18-C07A-9F8018AD6B5C}"/>
                </a:ext>
              </a:extLst>
            </p:cNvPr>
            <p:cNvSpPr/>
            <p:nvPr/>
          </p:nvSpPr>
          <p:spPr>
            <a:xfrm>
              <a:off x="4061637" y="4540628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成長</a:t>
              </a:r>
              <a:r>
                <a:rPr kumimoji="1" lang="ja-JP" altLang="en-US" sz="14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の</a:t>
              </a:r>
              <a:endParaRPr kumimoji="1" lang="en-US" altLang="ja-JP" sz="1400" b="1" dirty="0">
                <a:solidFill>
                  <a:schemeClr val="tx1"/>
                </a:solidFill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  <a:p>
              <a:pPr algn="ctr"/>
              <a:r>
                <a:rPr kumimoji="1"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政治経済学</a:t>
              </a:r>
            </a:p>
          </p:txBody>
        </p:sp>
        <p:sp>
          <p:nvSpPr>
            <p:cNvPr id="30" name="角丸四角形 29">
              <a:extLst>
                <a:ext uri="{FF2B5EF4-FFF2-40B4-BE49-F238E27FC236}">
                  <a16:creationId xmlns:a16="http://schemas.microsoft.com/office/drawing/2014/main" id="{1FAD7E42-DC5D-94D1-99EA-4C812D42155A}"/>
                </a:ext>
              </a:extLst>
            </p:cNvPr>
            <p:cNvSpPr/>
            <p:nvPr/>
          </p:nvSpPr>
          <p:spPr>
            <a:xfrm>
              <a:off x="6457507" y="4545944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財政政策</a:t>
              </a:r>
              <a:r>
                <a:rPr kumimoji="1" lang="ja-JP" altLang="en-US" sz="14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の</a:t>
              </a:r>
              <a:endParaRPr kumimoji="1" lang="en-US" altLang="ja-JP" b="1" dirty="0">
                <a:solidFill>
                  <a:schemeClr val="tx1"/>
                </a:solidFill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  <a:p>
              <a:pPr algn="ctr"/>
              <a:r>
                <a:rPr kumimoji="1"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政治経済学</a:t>
              </a:r>
            </a:p>
          </p:txBody>
        </p:sp>
        <p:sp>
          <p:nvSpPr>
            <p:cNvPr id="31" name="角丸四角形 30">
              <a:extLst>
                <a:ext uri="{FF2B5EF4-FFF2-40B4-BE49-F238E27FC236}">
                  <a16:creationId xmlns:a16="http://schemas.microsoft.com/office/drawing/2014/main" id="{6E5B0699-FDA8-C64D-C97C-D3A437796098}"/>
                </a:ext>
              </a:extLst>
            </p:cNvPr>
            <p:cNvSpPr/>
            <p:nvPr/>
          </p:nvSpPr>
          <p:spPr>
            <a:xfrm>
              <a:off x="8853377" y="4545944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金融政策</a:t>
              </a:r>
              <a:r>
                <a:rPr kumimoji="1" lang="ja-JP" altLang="en-US" sz="14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の</a:t>
              </a:r>
              <a:endParaRPr kumimoji="1" lang="en-US" altLang="ja-JP" b="1" dirty="0">
                <a:solidFill>
                  <a:schemeClr val="tx1"/>
                </a:solidFill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  <a:p>
              <a:pPr algn="ctr"/>
              <a:r>
                <a:rPr kumimoji="1"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政治経済学</a:t>
              </a:r>
            </a:p>
          </p:txBody>
        </p:sp>
        <p:sp>
          <p:nvSpPr>
            <p:cNvPr id="32" name="角丸四角形 31">
              <a:extLst>
                <a:ext uri="{FF2B5EF4-FFF2-40B4-BE49-F238E27FC236}">
                  <a16:creationId xmlns:a16="http://schemas.microsoft.com/office/drawing/2014/main" id="{556F59E7-E5D5-B1B6-1681-0BB0FF05CF49}"/>
                </a:ext>
              </a:extLst>
            </p:cNvPr>
            <p:cNvSpPr/>
            <p:nvPr/>
          </p:nvSpPr>
          <p:spPr>
            <a:xfrm>
              <a:off x="4043916" y="5809447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授業</a:t>
              </a:r>
              <a:r>
                <a:rPr kumimoji="1" lang="ja-JP" altLang="en-US" sz="14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の</a:t>
              </a:r>
              <a:r>
                <a:rPr kumimoji="1"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ふりかえり</a:t>
              </a:r>
            </a:p>
          </p:txBody>
        </p:sp>
        <p:sp>
          <p:nvSpPr>
            <p:cNvPr id="33" name="角丸四角形 32">
              <a:extLst>
                <a:ext uri="{FF2B5EF4-FFF2-40B4-BE49-F238E27FC236}">
                  <a16:creationId xmlns:a16="http://schemas.microsoft.com/office/drawing/2014/main" id="{CFF6BB6F-DEC1-D53A-95A0-A016FD2FF087}"/>
                </a:ext>
              </a:extLst>
            </p:cNvPr>
            <p:cNvSpPr/>
            <p:nvPr/>
          </p:nvSpPr>
          <p:spPr>
            <a:xfrm>
              <a:off x="6439786" y="5809447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理解度</a:t>
              </a:r>
              <a:r>
                <a:rPr kumimoji="1" lang="ja-JP" altLang="en-US" sz="14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の</a:t>
              </a:r>
              <a:r>
                <a:rPr kumimoji="1"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確認</a:t>
              </a:r>
            </a:p>
          </p:txBody>
        </p:sp>
        <p:sp>
          <p:nvSpPr>
            <p:cNvPr id="36" name="正方形/長方形 35">
              <a:extLst>
                <a:ext uri="{FF2B5EF4-FFF2-40B4-BE49-F238E27FC236}">
                  <a16:creationId xmlns:a16="http://schemas.microsoft.com/office/drawing/2014/main" id="{4D623B1F-B9B2-28E5-11CD-BF23CC7E9429}"/>
                </a:ext>
              </a:extLst>
            </p:cNvPr>
            <p:cNvSpPr/>
            <p:nvPr/>
          </p:nvSpPr>
          <p:spPr>
            <a:xfrm>
              <a:off x="3886714" y="607625"/>
              <a:ext cx="4725658" cy="854873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F9B3558C-B70B-3F3B-5DB0-5D98252F83E3}"/>
                </a:ext>
              </a:extLst>
            </p:cNvPr>
            <p:cNvSpPr txBox="1"/>
            <p:nvPr/>
          </p:nvSpPr>
          <p:spPr>
            <a:xfrm>
              <a:off x="3886714" y="342976"/>
              <a:ext cx="2030818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ja-JP" altLang="en-US" sz="1600" b="1"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イントロダクション</a:t>
              </a:r>
            </a:p>
          </p:txBody>
        </p:sp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56F7B3B9-E35C-A1DB-3686-B69B8BF74D36}"/>
                </a:ext>
              </a:extLst>
            </p:cNvPr>
            <p:cNvSpPr/>
            <p:nvPr/>
          </p:nvSpPr>
          <p:spPr>
            <a:xfrm>
              <a:off x="3886714" y="1867806"/>
              <a:ext cx="4725658" cy="854873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2617957E-50E7-5343-BEE2-0374CD223F38}"/>
                </a:ext>
              </a:extLst>
            </p:cNvPr>
            <p:cNvSpPr txBox="1"/>
            <p:nvPr/>
          </p:nvSpPr>
          <p:spPr>
            <a:xfrm>
              <a:off x="3886714" y="1603157"/>
              <a:ext cx="1759103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ja-JP" altLang="en-US" sz="1600" b="1"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歴史的展開</a:t>
              </a:r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FEE644EA-00F4-9657-13B3-D888AC5299C8}"/>
                </a:ext>
              </a:extLst>
            </p:cNvPr>
            <p:cNvSpPr/>
            <p:nvPr/>
          </p:nvSpPr>
          <p:spPr>
            <a:xfrm>
              <a:off x="1523885" y="3182895"/>
              <a:ext cx="9470180" cy="854873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25770FDF-B9B3-080B-CFBE-97781B6602D3}"/>
                </a:ext>
              </a:extLst>
            </p:cNvPr>
            <p:cNvSpPr txBox="1"/>
            <p:nvPr/>
          </p:nvSpPr>
          <p:spPr>
            <a:xfrm>
              <a:off x="1523885" y="2918246"/>
              <a:ext cx="1759103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ja-JP" altLang="en-US" sz="1600" b="1"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多国間比較</a:t>
              </a:r>
            </a:p>
          </p:txBody>
        </p:sp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F9893D31-A28A-3C39-5435-7D746245C3D4}"/>
                </a:ext>
              </a:extLst>
            </p:cNvPr>
            <p:cNvSpPr/>
            <p:nvPr/>
          </p:nvSpPr>
          <p:spPr>
            <a:xfrm>
              <a:off x="1523885" y="4443076"/>
              <a:ext cx="9470180" cy="854873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</p:txBody>
        </p:sp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2E7D5104-0D1B-9C63-96CF-6496D7C9370E}"/>
                </a:ext>
              </a:extLst>
            </p:cNvPr>
            <p:cNvSpPr txBox="1"/>
            <p:nvPr/>
          </p:nvSpPr>
          <p:spPr>
            <a:xfrm>
              <a:off x="1523885" y="4178427"/>
              <a:ext cx="2030819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ja-JP" altLang="en-US" sz="1600" b="1"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政治経済</a:t>
              </a:r>
              <a:r>
                <a:rPr kumimoji="1" lang="ja-JP" altLang="en-US" sz="1400" b="1"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の</a:t>
              </a:r>
              <a:r>
                <a:rPr kumimoji="1" lang="ja-JP" altLang="en-US" sz="1600" b="1"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相互作用</a:t>
              </a:r>
            </a:p>
          </p:txBody>
        </p:sp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6CEDBC47-1F49-3BD6-56AE-FA9432B897DC}"/>
                </a:ext>
              </a:extLst>
            </p:cNvPr>
            <p:cNvSpPr/>
            <p:nvPr/>
          </p:nvSpPr>
          <p:spPr>
            <a:xfrm>
              <a:off x="3886714" y="5660150"/>
              <a:ext cx="4725658" cy="854873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</p:txBody>
        </p:sp>
        <p:sp>
          <p:nvSpPr>
            <p:cNvPr id="45" name="テキスト ボックス 44">
              <a:extLst>
                <a:ext uri="{FF2B5EF4-FFF2-40B4-BE49-F238E27FC236}">
                  <a16:creationId xmlns:a16="http://schemas.microsoft.com/office/drawing/2014/main" id="{EF7457DE-412A-26EF-5E5E-40667284AD08}"/>
                </a:ext>
              </a:extLst>
            </p:cNvPr>
            <p:cNvSpPr txBox="1"/>
            <p:nvPr/>
          </p:nvSpPr>
          <p:spPr>
            <a:xfrm>
              <a:off x="3886714" y="5395501"/>
              <a:ext cx="1759103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ja-JP" altLang="en-US" sz="1600" b="1"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まとめ</a:t>
              </a:r>
            </a:p>
          </p:txBody>
        </p:sp>
        <p:cxnSp>
          <p:nvCxnSpPr>
            <p:cNvPr id="47" name="直線矢印コネクタ 46">
              <a:extLst>
                <a:ext uri="{FF2B5EF4-FFF2-40B4-BE49-F238E27FC236}">
                  <a16:creationId xmlns:a16="http://schemas.microsoft.com/office/drawing/2014/main" id="{6D912A9C-D3C3-4D7D-EC38-2F21EA1177DB}"/>
                </a:ext>
              </a:extLst>
            </p:cNvPr>
            <p:cNvCxnSpPr>
              <a:stCxn id="16" idx="3"/>
              <a:endCxn id="19" idx="1"/>
            </p:cNvCxnSpPr>
            <p:nvPr/>
          </p:nvCxnSpPr>
          <p:spPr>
            <a:xfrm>
              <a:off x="6092456" y="1074412"/>
              <a:ext cx="36505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oval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矢印コネクタ 47">
              <a:extLst>
                <a:ext uri="{FF2B5EF4-FFF2-40B4-BE49-F238E27FC236}">
                  <a16:creationId xmlns:a16="http://schemas.microsoft.com/office/drawing/2014/main" id="{E3173188-CED5-328C-92FC-CE08666F6E31}"/>
                </a:ext>
              </a:extLst>
            </p:cNvPr>
            <p:cNvCxnSpPr>
              <a:cxnSpLocks/>
              <a:stCxn id="21" idx="3"/>
              <a:endCxn id="22" idx="1"/>
            </p:cNvCxnSpPr>
            <p:nvPr/>
          </p:nvCxnSpPr>
          <p:spPr>
            <a:xfrm>
              <a:off x="6092456" y="2332599"/>
              <a:ext cx="36505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oval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矢印コネクタ 50">
              <a:extLst>
                <a:ext uri="{FF2B5EF4-FFF2-40B4-BE49-F238E27FC236}">
                  <a16:creationId xmlns:a16="http://schemas.microsoft.com/office/drawing/2014/main" id="{D37C5067-F646-7535-E227-5816A2973FCC}"/>
                </a:ext>
              </a:extLst>
            </p:cNvPr>
            <p:cNvCxnSpPr>
              <a:cxnSpLocks/>
              <a:stCxn id="24" idx="3"/>
              <a:endCxn id="25" idx="1"/>
            </p:cNvCxnSpPr>
            <p:nvPr/>
          </p:nvCxnSpPr>
          <p:spPr>
            <a:xfrm>
              <a:off x="3678865" y="3590786"/>
              <a:ext cx="36505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oval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矢印コネクタ 51">
              <a:extLst>
                <a:ext uri="{FF2B5EF4-FFF2-40B4-BE49-F238E27FC236}">
                  <a16:creationId xmlns:a16="http://schemas.microsoft.com/office/drawing/2014/main" id="{AE23FB02-EC01-BCA7-846E-56AE0B99F1D8}"/>
                </a:ext>
              </a:extLst>
            </p:cNvPr>
            <p:cNvCxnSpPr>
              <a:cxnSpLocks/>
              <a:stCxn id="25" idx="3"/>
              <a:endCxn id="26" idx="1"/>
            </p:cNvCxnSpPr>
            <p:nvPr/>
          </p:nvCxnSpPr>
          <p:spPr>
            <a:xfrm>
              <a:off x="6074735" y="3590786"/>
              <a:ext cx="365051" cy="531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oval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矢印コネクタ 52">
              <a:extLst>
                <a:ext uri="{FF2B5EF4-FFF2-40B4-BE49-F238E27FC236}">
                  <a16:creationId xmlns:a16="http://schemas.microsoft.com/office/drawing/2014/main" id="{5E0835F7-E0E2-CC62-6E81-508DCDE9E67D}"/>
                </a:ext>
              </a:extLst>
            </p:cNvPr>
            <p:cNvCxnSpPr>
              <a:cxnSpLocks/>
              <a:stCxn id="26" idx="3"/>
              <a:endCxn id="27" idx="1"/>
            </p:cNvCxnSpPr>
            <p:nvPr/>
          </p:nvCxnSpPr>
          <p:spPr>
            <a:xfrm>
              <a:off x="8470605" y="3596102"/>
              <a:ext cx="36505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oval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矢印コネクタ 59">
              <a:extLst>
                <a:ext uri="{FF2B5EF4-FFF2-40B4-BE49-F238E27FC236}">
                  <a16:creationId xmlns:a16="http://schemas.microsoft.com/office/drawing/2014/main" id="{1ACB5432-8CD6-D08D-FEB2-1AF77F0E15F2}"/>
                </a:ext>
              </a:extLst>
            </p:cNvPr>
            <p:cNvCxnSpPr>
              <a:cxnSpLocks/>
              <a:stCxn id="28" idx="3"/>
              <a:endCxn id="29" idx="1"/>
            </p:cNvCxnSpPr>
            <p:nvPr/>
          </p:nvCxnSpPr>
          <p:spPr>
            <a:xfrm>
              <a:off x="3696586" y="4859605"/>
              <a:ext cx="36505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oval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線矢印コネクタ 60">
              <a:extLst>
                <a:ext uri="{FF2B5EF4-FFF2-40B4-BE49-F238E27FC236}">
                  <a16:creationId xmlns:a16="http://schemas.microsoft.com/office/drawing/2014/main" id="{C4A476FA-B3ED-B1AE-FBA3-F2D8482DBB71}"/>
                </a:ext>
              </a:extLst>
            </p:cNvPr>
            <p:cNvCxnSpPr>
              <a:cxnSpLocks/>
              <a:stCxn id="29" idx="3"/>
              <a:endCxn id="30" idx="1"/>
            </p:cNvCxnSpPr>
            <p:nvPr/>
          </p:nvCxnSpPr>
          <p:spPr>
            <a:xfrm>
              <a:off x="6092456" y="4859605"/>
              <a:ext cx="365051" cy="531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oval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線矢印コネクタ 61">
              <a:extLst>
                <a:ext uri="{FF2B5EF4-FFF2-40B4-BE49-F238E27FC236}">
                  <a16:creationId xmlns:a16="http://schemas.microsoft.com/office/drawing/2014/main" id="{29BE4FB4-A5CA-BC04-6B2A-EF8C0204951E}"/>
                </a:ext>
              </a:extLst>
            </p:cNvPr>
            <p:cNvCxnSpPr>
              <a:cxnSpLocks/>
              <a:stCxn id="30" idx="3"/>
              <a:endCxn id="31" idx="1"/>
            </p:cNvCxnSpPr>
            <p:nvPr/>
          </p:nvCxnSpPr>
          <p:spPr>
            <a:xfrm>
              <a:off x="8488326" y="4864921"/>
              <a:ext cx="36505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oval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線矢印コネクタ 73">
              <a:extLst>
                <a:ext uri="{FF2B5EF4-FFF2-40B4-BE49-F238E27FC236}">
                  <a16:creationId xmlns:a16="http://schemas.microsoft.com/office/drawing/2014/main" id="{045A9AA2-4E68-0DFD-6BC9-3D566410B46B}"/>
                </a:ext>
              </a:extLst>
            </p:cNvPr>
            <p:cNvCxnSpPr>
              <a:cxnSpLocks/>
              <a:stCxn id="32" idx="3"/>
              <a:endCxn id="33" idx="1"/>
            </p:cNvCxnSpPr>
            <p:nvPr/>
          </p:nvCxnSpPr>
          <p:spPr>
            <a:xfrm>
              <a:off x="6074735" y="6128424"/>
              <a:ext cx="36505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oval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0953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8826276A-DD33-4BA6-52F0-7C83AD5F4AA5}"/>
              </a:ext>
            </a:extLst>
          </p:cNvPr>
          <p:cNvGrpSpPr/>
          <p:nvPr/>
        </p:nvGrpSpPr>
        <p:grpSpPr>
          <a:xfrm>
            <a:off x="216750" y="807986"/>
            <a:ext cx="11758500" cy="5242028"/>
            <a:chOff x="216750" y="232575"/>
            <a:chExt cx="11758500" cy="5242028"/>
          </a:xfrm>
        </p:grpSpPr>
        <p:sp>
          <p:nvSpPr>
            <p:cNvPr id="2" name="角丸四角形 1">
              <a:extLst>
                <a:ext uri="{FF2B5EF4-FFF2-40B4-BE49-F238E27FC236}">
                  <a16:creationId xmlns:a16="http://schemas.microsoft.com/office/drawing/2014/main" id="{A9E7ED6B-AEC9-9C19-6D59-E3F9F5F96598}"/>
                </a:ext>
              </a:extLst>
            </p:cNvPr>
            <p:cNvSpPr/>
            <p:nvPr/>
          </p:nvSpPr>
          <p:spPr>
            <a:xfrm>
              <a:off x="216750" y="623233"/>
              <a:ext cx="2262044" cy="204560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古典的政治経済学</a:t>
              </a:r>
              <a:br>
                <a:rPr lang="en-US" altLang="ja-JP" b="1" dirty="0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</a:br>
              <a:r>
                <a:rPr lang="ja-JP" altLang="en-US" sz="1600">
                  <a:solidFill>
                    <a:schemeClr val="tx1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政治と経済の未分化</a:t>
              </a:r>
              <a:endParaRPr lang="en-US" altLang="ja-JP" sz="1600" dirty="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ja-JP" altLang="en-US" sz="1600">
                  <a:solidFill>
                    <a:schemeClr val="tx1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重商主義</a:t>
              </a:r>
              <a:endParaRPr lang="en-US" altLang="ja-JP" sz="1600" dirty="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kumimoji="1" lang="ja-JP" altLang="en-US" sz="1600">
                  <a:solidFill>
                    <a:schemeClr val="tx1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重農主義</a:t>
              </a:r>
              <a:endParaRPr kumimoji="1" lang="en-US" altLang="ja-JP" sz="1600" dirty="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ja-JP" altLang="en-US" sz="1600">
                  <a:solidFill>
                    <a:schemeClr val="tx1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功利主義</a:t>
              </a:r>
              <a:endParaRPr kumimoji="1" lang="en-US" altLang="ja-JP" sz="1600" dirty="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3" name="角丸四角形 2">
              <a:extLst>
                <a:ext uri="{FF2B5EF4-FFF2-40B4-BE49-F238E27FC236}">
                  <a16:creationId xmlns:a16="http://schemas.microsoft.com/office/drawing/2014/main" id="{90D131A8-E07A-8B61-2972-AC02A1D0144A}"/>
                </a:ext>
              </a:extLst>
            </p:cNvPr>
            <p:cNvSpPr/>
            <p:nvPr/>
          </p:nvSpPr>
          <p:spPr>
            <a:xfrm>
              <a:off x="3530991" y="623233"/>
              <a:ext cx="7551978" cy="875062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経済学</a:t>
              </a:r>
              <a:r>
                <a:rPr lang="en-US" altLang="ja-JP" sz="1600" dirty="0">
                  <a:solidFill>
                    <a:schemeClr val="tx1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…</a:t>
              </a:r>
              <a:r>
                <a:rPr lang="ja-JP" altLang="en-US" sz="1600">
                  <a:solidFill>
                    <a:schemeClr val="tx1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経済の政治からの分離</a:t>
              </a:r>
              <a:endParaRPr lang="en-US" altLang="ja-JP" sz="1600" dirty="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sz="1600">
                  <a:solidFill>
                    <a:schemeClr val="tx1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古典派経済学→限界革命（ミクロ経済学）→ケインズ主義（マクロ経済学）</a:t>
              </a:r>
              <a:endParaRPr kumimoji="1" lang="en-US" altLang="ja-JP" sz="1600" dirty="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4" name="角丸四角形 3">
              <a:extLst>
                <a:ext uri="{FF2B5EF4-FFF2-40B4-BE49-F238E27FC236}">
                  <a16:creationId xmlns:a16="http://schemas.microsoft.com/office/drawing/2014/main" id="{EFD9D74A-E751-A062-D4E2-A95721CF8F03}"/>
                </a:ext>
              </a:extLst>
            </p:cNvPr>
            <p:cNvSpPr/>
            <p:nvPr/>
          </p:nvSpPr>
          <p:spPr>
            <a:xfrm>
              <a:off x="3530991" y="1793774"/>
              <a:ext cx="7551978" cy="875062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経済学批判</a:t>
              </a:r>
              <a:r>
                <a:rPr lang="en-US" altLang="ja-JP" sz="1600" dirty="0">
                  <a:solidFill>
                    <a:schemeClr val="tx1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…</a:t>
              </a:r>
              <a:r>
                <a:rPr lang="ja-JP" altLang="en-US" sz="1600">
                  <a:solidFill>
                    <a:schemeClr val="tx1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経済と政治の関係性を強調</a:t>
              </a:r>
              <a:endParaRPr lang="en-US" altLang="ja-JP" sz="1600" dirty="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sz="1600">
                  <a:solidFill>
                    <a:schemeClr val="tx1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マルクス主義、ドイツ歴史学派、ポランニー</a:t>
              </a:r>
              <a:endParaRPr kumimoji="1" lang="en-US" altLang="ja-JP" sz="1600" dirty="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5" name="角丸四角形 4">
              <a:extLst>
                <a:ext uri="{FF2B5EF4-FFF2-40B4-BE49-F238E27FC236}">
                  <a16:creationId xmlns:a16="http://schemas.microsoft.com/office/drawing/2014/main" id="{4A895967-8260-D8C1-4BC4-3A8871DCBF5A}"/>
                </a:ext>
              </a:extLst>
            </p:cNvPr>
            <p:cNvSpPr/>
            <p:nvPr/>
          </p:nvSpPr>
          <p:spPr>
            <a:xfrm>
              <a:off x="1615935" y="3429000"/>
              <a:ext cx="4138584" cy="875062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方法としての政治経済学</a:t>
              </a:r>
              <a:endParaRPr lang="en-US" altLang="ja-JP" sz="1600" b="1" dirty="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  <a:p>
              <a:r>
                <a:rPr lang="ja-JP" altLang="en-US" sz="1600">
                  <a:solidFill>
                    <a:schemeClr val="tx1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経済学の方法を用いた政治現象の分析</a:t>
              </a:r>
              <a:endParaRPr lang="en-US" altLang="ja-JP" sz="1600" dirty="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6" name="角丸四角形 5">
              <a:extLst>
                <a:ext uri="{FF2B5EF4-FFF2-40B4-BE49-F238E27FC236}">
                  <a16:creationId xmlns:a16="http://schemas.microsoft.com/office/drawing/2014/main" id="{E77D4E9D-4D70-D214-5FB4-9B52BAC77D3F}"/>
                </a:ext>
              </a:extLst>
            </p:cNvPr>
            <p:cNvSpPr/>
            <p:nvPr/>
          </p:nvSpPr>
          <p:spPr>
            <a:xfrm>
              <a:off x="1615935" y="4599541"/>
              <a:ext cx="4138584" cy="875062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対象としての経済学</a:t>
              </a:r>
              <a:endParaRPr lang="en-US" altLang="ja-JP" b="1" dirty="0">
                <a:solidFill>
                  <a:schemeClr val="tx1"/>
                </a:solidFill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  <a:p>
              <a:r>
                <a:rPr lang="ja-JP" altLang="en-US" sz="1600">
                  <a:solidFill>
                    <a:schemeClr val="tx1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経済政策を対象とした政治学的な分析</a:t>
              </a:r>
              <a:endParaRPr lang="en-US" altLang="ja-JP" sz="1600" dirty="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7" name="角丸四角形 6">
              <a:extLst>
                <a:ext uri="{FF2B5EF4-FFF2-40B4-BE49-F238E27FC236}">
                  <a16:creationId xmlns:a16="http://schemas.microsoft.com/office/drawing/2014/main" id="{98311443-7D26-D949-7820-CDD094D4397C}"/>
                </a:ext>
              </a:extLst>
            </p:cNvPr>
            <p:cNvSpPr/>
            <p:nvPr/>
          </p:nvSpPr>
          <p:spPr>
            <a:xfrm>
              <a:off x="6823113" y="3429000"/>
              <a:ext cx="2618342" cy="204560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現代比較政治経済学</a:t>
              </a:r>
              <a:endParaRPr kumimoji="1" lang="en-US" altLang="ja-JP" sz="1600" dirty="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8" name="右矢印 7">
              <a:extLst>
                <a:ext uri="{FF2B5EF4-FFF2-40B4-BE49-F238E27FC236}">
                  <a16:creationId xmlns:a16="http://schemas.microsoft.com/office/drawing/2014/main" id="{BB8D7299-46D3-66AF-A7CC-05DB268AF8DF}"/>
                </a:ext>
              </a:extLst>
            </p:cNvPr>
            <p:cNvSpPr/>
            <p:nvPr/>
          </p:nvSpPr>
          <p:spPr>
            <a:xfrm>
              <a:off x="2751504" y="768816"/>
              <a:ext cx="661012" cy="583895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右矢印 8">
              <a:extLst>
                <a:ext uri="{FF2B5EF4-FFF2-40B4-BE49-F238E27FC236}">
                  <a16:creationId xmlns:a16="http://schemas.microsoft.com/office/drawing/2014/main" id="{84D5453E-1F14-E9FD-69EE-9AD8B68404C4}"/>
                </a:ext>
              </a:extLst>
            </p:cNvPr>
            <p:cNvSpPr/>
            <p:nvPr/>
          </p:nvSpPr>
          <p:spPr>
            <a:xfrm>
              <a:off x="2751504" y="1939357"/>
              <a:ext cx="661012" cy="583895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右矢印 9">
              <a:extLst>
                <a:ext uri="{FF2B5EF4-FFF2-40B4-BE49-F238E27FC236}">
                  <a16:creationId xmlns:a16="http://schemas.microsoft.com/office/drawing/2014/main" id="{43340045-FA66-659F-F761-C3B436C25AEA}"/>
                </a:ext>
              </a:extLst>
            </p:cNvPr>
            <p:cNvSpPr/>
            <p:nvPr/>
          </p:nvSpPr>
          <p:spPr>
            <a:xfrm>
              <a:off x="11314238" y="768816"/>
              <a:ext cx="661012" cy="583895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右矢印 10">
              <a:extLst>
                <a:ext uri="{FF2B5EF4-FFF2-40B4-BE49-F238E27FC236}">
                  <a16:creationId xmlns:a16="http://schemas.microsoft.com/office/drawing/2014/main" id="{9C123BCA-27B9-7AC4-DFB5-3C78618BA4A1}"/>
                </a:ext>
              </a:extLst>
            </p:cNvPr>
            <p:cNvSpPr/>
            <p:nvPr/>
          </p:nvSpPr>
          <p:spPr>
            <a:xfrm>
              <a:off x="11314238" y="1939357"/>
              <a:ext cx="661012" cy="583895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右矢印 11">
              <a:extLst>
                <a:ext uri="{FF2B5EF4-FFF2-40B4-BE49-F238E27FC236}">
                  <a16:creationId xmlns:a16="http://schemas.microsoft.com/office/drawing/2014/main" id="{F7FA2495-8A7F-DE33-02AF-A463ADB03437}"/>
                </a:ext>
              </a:extLst>
            </p:cNvPr>
            <p:cNvSpPr/>
            <p:nvPr/>
          </p:nvSpPr>
          <p:spPr>
            <a:xfrm>
              <a:off x="751132" y="3587297"/>
              <a:ext cx="661012" cy="583895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右矢印 12">
              <a:extLst>
                <a:ext uri="{FF2B5EF4-FFF2-40B4-BE49-F238E27FC236}">
                  <a16:creationId xmlns:a16="http://schemas.microsoft.com/office/drawing/2014/main" id="{23CA7C00-F966-C33B-308E-8AEEE9458F44}"/>
                </a:ext>
              </a:extLst>
            </p:cNvPr>
            <p:cNvSpPr/>
            <p:nvPr/>
          </p:nvSpPr>
          <p:spPr>
            <a:xfrm>
              <a:off x="751132" y="4757838"/>
              <a:ext cx="661012" cy="583895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右矢印 13">
              <a:extLst>
                <a:ext uri="{FF2B5EF4-FFF2-40B4-BE49-F238E27FC236}">
                  <a16:creationId xmlns:a16="http://schemas.microsoft.com/office/drawing/2014/main" id="{3FF21474-97D4-57CD-0194-4DDF47D17B75}"/>
                </a:ext>
              </a:extLst>
            </p:cNvPr>
            <p:cNvSpPr/>
            <p:nvPr/>
          </p:nvSpPr>
          <p:spPr>
            <a:xfrm>
              <a:off x="5958310" y="3605270"/>
              <a:ext cx="661012" cy="583895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右矢印 14">
              <a:extLst>
                <a:ext uri="{FF2B5EF4-FFF2-40B4-BE49-F238E27FC236}">
                  <a16:creationId xmlns:a16="http://schemas.microsoft.com/office/drawing/2014/main" id="{36D49CCD-E88E-DF63-0CDC-A10CD3D258ED}"/>
                </a:ext>
              </a:extLst>
            </p:cNvPr>
            <p:cNvSpPr/>
            <p:nvPr/>
          </p:nvSpPr>
          <p:spPr>
            <a:xfrm>
              <a:off x="5958310" y="4775811"/>
              <a:ext cx="661012" cy="583895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56B543B3-C916-697C-A4CB-91FB2FDD5730}"/>
                </a:ext>
              </a:extLst>
            </p:cNvPr>
            <p:cNvSpPr txBox="1"/>
            <p:nvPr/>
          </p:nvSpPr>
          <p:spPr>
            <a:xfrm>
              <a:off x="653511" y="253901"/>
              <a:ext cx="13885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b="1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17-18</a:t>
              </a:r>
              <a:r>
                <a:rPr kumimoji="1" lang="ja-JP" altLang="en-US" b="1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世紀</a:t>
              </a: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268AE992-64CA-D2CB-D982-4643372F430B}"/>
                </a:ext>
              </a:extLst>
            </p:cNvPr>
            <p:cNvSpPr txBox="1"/>
            <p:nvPr/>
          </p:nvSpPr>
          <p:spPr>
            <a:xfrm>
              <a:off x="3685227" y="232575"/>
              <a:ext cx="13885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b="1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19-20</a:t>
              </a:r>
              <a:r>
                <a:rPr kumimoji="1" lang="ja-JP" altLang="en-US" b="1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世紀</a:t>
              </a:r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2931C24F-BF50-E763-B17C-BF09D8639449}"/>
                </a:ext>
              </a:extLst>
            </p:cNvPr>
            <p:cNvSpPr txBox="1"/>
            <p:nvPr/>
          </p:nvSpPr>
          <p:spPr>
            <a:xfrm>
              <a:off x="1615935" y="3046286"/>
              <a:ext cx="17091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b="1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1950</a:t>
              </a:r>
              <a:r>
                <a:rPr lang="en-US" altLang="ja-JP" b="1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-70</a:t>
              </a:r>
              <a:r>
                <a:rPr lang="ja-JP" altLang="en-US" b="1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年代</a:t>
              </a:r>
              <a:endParaRPr kumimoji="1" lang="ja-JP" altLang="en-US" b="1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3E1B995A-3F7C-10C6-47D7-B1A7103544B1}"/>
                </a:ext>
              </a:extLst>
            </p:cNvPr>
            <p:cNvSpPr txBox="1"/>
            <p:nvPr/>
          </p:nvSpPr>
          <p:spPr>
            <a:xfrm>
              <a:off x="6823113" y="3046286"/>
              <a:ext cx="15327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b="1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1980</a:t>
              </a:r>
              <a:r>
                <a:rPr kumimoji="1" lang="ja-JP" altLang="en-US" b="1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年代</a:t>
              </a:r>
              <a:r>
                <a:rPr kumimoji="1" lang="en-US" altLang="ja-JP" b="1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〜</a:t>
              </a:r>
              <a:endParaRPr kumimoji="1" lang="ja-JP" altLang="en-US" b="1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7148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D2C8B001-8DD4-873E-CF05-B273DEECD4AB}"/>
              </a:ext>
            </a:extLst>
          </p:cNvPr>
          <p:cNvGrpSpPr/>
          <p:nvPr/>
        </p:nvGrpSpPr>
        <p:grpSpPr>
          <a:xfrm>
            <a:off x="1406614" y="1658846"/>
            <a:ext cx="9378772" cy="3540307"/>
            <a:chOff x="1406614" y="1955274"/>
            <a:chExt cx="9378772" cy="3540307"/>
          </a:xfrm>
        </p:grpSpPr>
        <p:sp>
          <p:nvSpPr>
            <p:cNvPr id="2" name="角丸四角形 1">
              <a:extLst>
                <a:ext uri="{FF2B5EF4-FFF2-40B4-BE49-F238E27FC236}">
                  <a16:creationId xmlns:a16="http://schemas.microsoft.com/office/drawing/2014/main" id="{D372A8EB-2CF5-7079-456F-A67A656DD207}"/>
                </a:ext>
              </a:extLst>
            </p:cNvPr>
            <p:cNvSpPr/>
            <p:nvPr/>
          </p:nvSpPr>
          <p:spPr>
            <a:xfrm>
              <a:off x="1406614" y="1955274"/>
              <a:ext cx="3506907" cy="1140466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8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大量生産</a:t>
              </a:r>
              <a:br>
                <a:rPr lang="en-US" altLang="ja-JP" sz="2800" b="1" dirty="0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</a:br>
              <a:r>
                <a:rPr lang="ja-JP" altLang="en-US" sz="2400">
                  <a:solidFill>
                    <a:schemeClr val="tx1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（規格化された労働）</a:t>
              </a:r>
              <a:endParaRPr lang="en-US" altLang="ja-JP" sz="2400" dirty="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3" name="角丸四角形 2">
              <a:extLst>
                <a:ext uri="{FF2B5EF4-FFF2-40B4-BE49-F238E27FC236}">
                  <a16:creationId xmlns:a16="http://schemas.microsoft.com/office/drawing/2014/main" id="{CE935FB0-E22C-07F3-1C25-9692E1100018}"/>
                </a:ext>
              </a:extLst>
            </p:cNvPr>
            <p:cNvSpPr/>
            <p:nvPr/>
          </p:nvSpPr>
          <p:spPr>
            <a:xfrm>
              <a:off x="7278479" y="1955274"/>
              <a:ext cx="3506907" cy="1140466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8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大量消費</a:t>
              </a:r>
              <a:br>
                <a:rPr lang="en-US" altLang="ja-JP" sz="2800" b="1" dirty="0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</a:br>
              <a:r>
                <a:rPr lang="ja-JP" altLang="en-US" sz="2400">
                  <a:solidFill>
                    <a:schemeClr val="tx1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（規格化された製品）</a:t>
              </a:r>
              <a:endParaRPr lang="en-US" altLang="ja-JP" sz="2400" dirty="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4" name="角丸四角形 3">
              <a:extLst>
                <a:ext uri="{FF2B5EF4-FFF2-40B4-BE49-F238E27FC236}">
                  <a16:creationId xmlns:a16="http://schemas.microsoft.com/office/drawing/2014/main" id="{DA5A69A7-FD71-034F-C928-F4F0E4E1E4A2}"/>
                </a:ext>
              </a:extLst>
            </p:cNvPr>
            <p:cNvSpPr/>
            <p:nvPr/>
          </p:nvSpPr>
          <p:spPr>
            <a:xfrm>
              <a:off x="3965186" y="4355115"/>
              <a:ext cx="4261627" cy="1140466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8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賃金上昇</a:t>
              </a:r>
              <a:r>
                <a:rPr lang="ja-JP" altLang="en-US" sz="2400">
                  <a:solidFill>
                    <a:schemeClr val="tx1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と</a:t>
              </a:r>
              <a:endParaRPr lang="en-US" altLang="ja-JP" sz="2800" dirty="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  <a:p>
              <a:pPr algn="ctr"/>
              <a:r>
                <a:rPr lang="ja-JP" altLang="en-US" sz="28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ケインズ主義的福祉国家</a:t>
              </a:r>
              <a:endParaRPr lang="en-US" altLang="ja-JP" sz="2400" dirty="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5" name="右矢印 4">
              <a:extLst>
                <a:ext uri="{FF2B5EF4-FFF2-40B4-BE49-F238E27FC236}">
                  <a16:creationId xmlns:a16="http://schemas.microsoft.com/office/drawing/2014/main" id="{F3FB2D8A-1F9E-8F9C-CD5D-7AE33E5957B1}"/>
                </a:ext>
              </a:extLst>
            </p:cNvPr>
            <p:cNvSpPr/>
            <p:nvPr/>
          </p:nvSpPr>
          <p:spPr>
            <a:xfrm>
              <a:off x="4997985" y="2151103"/>
              <a:ext cx="2192358" cy="374404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右矢印 5">
              <a:extLst>
                <a:ext uri="{FF2B5EF4-FFF2-40B4-BE49-F238E27FC236}">
                  <a16:creationId xmlns:a16="http://schemas.microsoft.com/office/drawing/2014/main" id="{AAFD1088-0501-7004-3C47-79E9AD9AAE03}"/>
                </a:ext>
              </a:extLst>
            </p:cNvPr>
            <p:cNvSpPr/>
            <p:nvPr/>
          </p:nvSpPr>
          <p:spPr>
            <a:xfrm rot="10800000">
              <a:off x="4997985" y="2569658"/>
              <a:ext cx="2192358" cy="374404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右矢印 6">
              <a:extLst>
                <a:ext uri="{FF2B5EF4-FFF2-40B4-BE49-F238E27FC236}">
                  <a16:creationId xmlns:a16="http://schemas.microsoft.com/office/drawing/2014/main" id="{F584063B-12EE-C88D-04B6-51DBE6338011}"/>
                </a:ext>
              </a:extLst>
            </p:cNvPr>
            <p:cNvSpPr/>
            <p:nvPr/>
          </p:nvSpPr>
          <p:spPr>
            <a:xfrm rot="5400000">
              <a:off x="3873931" y="3441479"/>
              <a:ext cx="1038173" cy="583895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右矢印 7">
              <a:extLst>
                <a:ext uri="{FF2B5EF4-FFF2-40B4-BE49-F238E27FC236}">
                  <a16:creationId xmlns:a16="http://schemas.microsoft.com/office/drawing/2014/main" id="{002EAC94-D180-798A-477A-2F14522AFE07}"/>
                </a:ext>
              </a:extLst>
            </p:cNvPr>
            <p:cNvSpPr/>
            <p:nvPr/>
          </p:nvSpPr>
          <p:spPr>
            <a:xfrm rot="16200000">
              <a:off x="7279898" y="3441478"/>
              <a:ext cx="1038173" cy="583895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77267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7AE0B157-05DD-BE00-DCC0-C8DFF85ACF93}"/>
              </a:ext>
            </a:extLst>
          </p:cNvPr>
          <p:cNvGrpSpPr/>
          <p:nvPr/>
        </p:nvGrpSpPr>
        <p:grpSpPr>
          <a:xfrm>
            <a:off x="448967" y="857823"/>
            <a:ext cx="11294065" cy="5142354"/>
            <a:chOff x="448967" y="857823"/>
            <a:chExt cx="11294065" cy="5142354"/>
          </a:xfrm>
        </p:grpSpPr>
        <p:sp>
          <p:nvSpPr>
            <p:cNvPr id="2" name="角丸四角形 1">
              <a:extLst>
                <a:ext uri="{FF2B5EF4-FFF2-40B4-BE49-F238E27FC236}">
                  <a16:creationId xmlns:a16="http://schemas.microsoft.com/office/drawing/2014/main" id="{BC8BB509-20E2-F64D-B6EE-07071E9E789D}"/>
                </a:ext>
              </a:extLst>
            </p:cNvPr>
            <p:cNvSpPr/>
            <p:nvPr/>
          </p:nvSpPr>
          <p:spPr>
            <a:xfrm>
              <a:off x="3965186" y="857823"/>
              <a:ext cx="4261627" cy="1140466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8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グローバル化</a:t>
              </a:r>
              <a:endParaRPr lang="en-US" altLang="ja-JP" sz="2400" dirty="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3" name="角丸四角形 2">
              <a:extLst>
                <a:ext uri="{FF2B5EF4-FFF2-40B4-BE49-F238E27FC236}">
                  <a16:creationId xmlns:a16="http://schemas.microsoft.com/office/drawing/2014/main" id="{B75BA1BC-6E4E-8EC3-7B91-1617FC644DE9}"/>
                </a:ext>
              </a:extLst>
            </p:cNvPr>
            <p:cNvSpPr/>
            <p:nvPr/>
          </p:nvSpPr>
          <p:spPr>
            <a:xfrm>
              <a:off x="448970" y="3812425"/>
              <a:ext cx="4261627" cy="1140466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8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国家主権</a:t>
              </a:r>
              <a:endParaRPr lang="en-US" altLang="ja-JP" sz="2400" dirty="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4" name="角丸四角形 3">
              <a:extLst>
                <a:ext uri="{FF2B5EF4-FFF2-40B4-BE49-F238E27FC236}">
                  <a16:creationId xmlns:a16="http://schemas.microsoft.com/office/drawing/2014/main" id="{BD720F91-5D6A-A706-3193-3231E9C19AF5}"/>
                </a:ext>
              </a:extLst>
            </p:cNvPr>
            <p:cNvSpPr/>
            <p:nvPr/>
          </p:nvSpPr>
          <p:spPr>
            <a:xfrm>
              <a:off x="7481405" y="3812425"/>
              <a:ext cx="4261627" cy="1140466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8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民主主義</a:t>
              </a:r>
              <a:endParaRPr lang="en-US" altLang="ja-JP" sz="2400" dirty="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cxnSp>
          <p:nvCxnSpPr>
            <p:cNvPr id="6" name="直線コネクタ 5">
              <a:extLst>
                <a:ext uri="{FF2B5EF4-FFF2-40B4-BE49-F238E27FC236}">
                  <a16:creationId xmlns:a16="http://schemas.microsoft.com/office/drawing/2014/main" id="{52722EB5-722B-C521-155F-26C779829DE9}"/>
                </a:ext>
              </a:extLst>
            </p:cNvPr>
            <p:cNvCxnSpPr>
              <a:stCxn id="2" idx="1"/>
              <a:endCxn id="3" idx="0"/>
            </p:cNvCxnSpPr>
            <p:nvPr/>
          </p:nvCxnSpPr>
          <p:spPr>
            <a:xfrm flipH="1">
              <a:off x="2579784" y="1428056"/>
              <a:ext cx="1385402" cy="2384369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835F8169-A20F-3205-9C95-F6E88514D2E9}"/>
                </a:ext>
              </a:extLst>
            </p:cNvPr>
            <p:cNvCxnSpPr>
              <a:cxnSpLocks/>
              <a:stCxn id="4" idx="1"/>
              <a:endCxn id="3" idx="3"/>
            </p:cNvCxnSpPr>
            <p:nvPr/>
          </p:nvCxnSpPr>
          <p:spPr>
            <a:xfrm flipH="1">
              <a:off x="4710597" y="4382658"/>
              <a:ext cx="277080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DFB1CC57-1970-EB64-6791-3D6C371C04E5}"/>
                </a:ext>
              </a:extLst>
            </p:cNvPr>
            <p:cNvCxnSpPr>
              <a:cxnSpLocks/>
              <a:stCxn id="2" idx="3"/>
              <a:endCxn id="4" idx="0"/>
            </p:cNvCxnSpPr>
            <p:nvPr/>
          </p:nvCxnSpPr>
          <p:spPr>
            <a:xfrm>
              <a:off x="8226813" y="1428056"/>
              <a:ext cx="1385406" cy="2384369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AE03FF55-B202-DC0C-E0C1-02811C727B42}"/>
                </a:ext>
              </a:extLst>
            </p:cNvPr>
            <p:cNvSpPr txBox="1"/>
            <p:nvPr/>
          </p:nvSpPr>
          <p:spPr>
            <a:xfrm>
              <a:off x="448967" y="1717852"/>
              <a:ext cx="2973891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2800" b="1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金本位制</a:t>
              </a:r>
              <a:endParaRPr kumimoji="1" lang="en-US" altLang="ja-JP" sz="2800" b="1" dirty="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  <a:p>
              <a:pPr algn="ctr"/>
              <a:r>
                <a:rPr kumimoji="1" lang="ja-JP" altLang="en-US" sz="28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（</a:t>
              </a:r>
              <a:r>
                <a:rPr kumimoji="1" lang="en-US" altLang="ja-JP" sz="28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1870-1914</a:t>
              </a:r>
              <a:r>
                <a:rPr kumimoji="1" lang="ja-JP" altLang="en-US" sz="28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）</a:t>
              </a:r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820E6EFE-D6F4-FB30-6E9C-606D0FCD6CE3}"/>
                </a:ext>
              </a:extLst>
            </p:cNvPr>
            <p:cNvSpPr txBox="1"/>
            <p:nvPr/>
          </p:nvSpPr>
          <p:spPr>
            <a:xfrm>
              <a:off x="4176246" y="5046070"/>
              <a:ext cx="3839513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2800" b="1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ブレトンウッズの妥協</a:t>
              </a:r>
              <a:endParaRPr kumimoji="1" lang="en-US" altLang="ja-JP" sz="2800" b="1" dirty="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  <a:p>
              <a:pPr algn="ctr"/>
              <a:r>
                <a:rPr kumimoji="1" lang="ja-JP" altLang="en-US" sz="28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（</a:t>
              </a:r>
              <a:r>
                <a:rPr lang="en-US" altLang="ja-JP" sz="28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1945</a:t>
              </a:r>
              <a:r>
                <a:rPr kumimoji="1" lang="en-US" altLang="ja-JP" sz="28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-75</a:t>
              </a:r>
              <a:r>
                <a:rPr kumimoji="1" lang="ja-JP" altLang="en-US" sz="28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）</a:t>
              </a: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5A670ACA-CF71-731B-F6BE-06BD711C0C21}"/>
                </a:ext>
              </a:extLst>
            </p:cNvPr>
            <p:cNvSpPr txBox="1"/>
            <p:nvPr/>
          </p:nvSpPr>
          <p:spPr>
            <a:xfrm>
              <a:off x="8919516" y="1717852"/>
              <a:ext cx="2377574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2800" b="1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グローバル・</a:t>
              </a:r>
              <a:endParaRPr kumimoji="1" lang="en-US" altLang="ja-JP" sz="2800" b="1" dirty="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  <a:p>
              <a:pPr algn="ctr"/>
              <a:r>
                <a:rPr lang="ja-JP" altLang="en-US" sz="2800" b="1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ガバナンス</a:t>
              </a:r>
              <a:endParaRPr kumimoji="1" lang="ja-JP" altLang="en-US" sz="280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2079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207</Words>
  <Application>Microsoft Macintosh PowerPoint</Application>
  <PresentationFormat>ワイド画面</PresentationFormat>
  <Paragraphs>55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0" baseType="lpstr">
      <vt:lpstr>Hiragino Sans W4</vt:lpstr>
      <vt:lpstr>Hiragino Sans W8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鈴木　淳平</dc:creator>
  <cp:lastModifiedBy>SUZUKI JUNPEI</cp:lastModifiedBy>
  <cp:revision>5</cp:revision>
  <dcterms:created xsi:type="dcterms:W3CDTF">2025-12-12T07:21:04Z</dcterms:created>
  <dcterms:modified xsi:type="dcterms:W3CDTF">2026-09-11T06:27:41Z</dcterms:modified>
</cp:coreProperties>
</file>